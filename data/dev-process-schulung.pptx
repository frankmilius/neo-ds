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9" r:id="rId43"/>
    <p:sldId id="298" r:id="rId44"/>
    <p:sldId id="300" r:id="rId45"/>
    <p:sldId id="302" r:id="rId46"/>
    <p:sldId id="303" r:id="rId47"/>
    <p:sldId id="297" r:id="rId4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292"/>
    <p:restoredTop sz="94610"/>
  </p:normalViewPr>
  <p:slideViewPr>
    <p:cSldViewPr snapToGrid="0" snapToObjects="1">
      <p:cViewPr varScale="1">
        <p:scale>
          <a:sx n="163" d="100"/>
          <a:sy n="163" d="100"/>
        </p:scale>
        <p:origin x="184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7433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21929-15AA-4ECB-1220-0D28ECF45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37E1B3-F8C0-9196-9DE0-3AC987B871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BDC2F-7C22-3062-C3B3-F45131DD7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DC07D-8D2C-749A-33BE-9ABAFDDF05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46255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60B7E-CF33-4791-B55E-A5004C475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8CB7D2-14FF-B099-3D66-448C0385CE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1CDC6F-74AE-CCC2-686B-817187104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9B1F7-A01D-F758-8095-8B0FD8720E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26943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2719A-D7C0-FA04-F023-FACE0D520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3A53E7-FFB5-EEDE-3C31-3BC0319089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206DF0-1F4D-1799-31E8-7ADCEB33A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7E703-A713-35EE-815D-D12B77B213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80881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8AE66-FAE7-33F4-AF20-B3CE3FF05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886DC-5A3E-3585-3228-B14D3DFC97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6EDC06-9A61-39CF-26D7-3C38AE04A1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7035FF-8DB6-0273-CDEC-3BBB7F95C7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8978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B7ABC-F529-1E61-A542-5CC3A9C27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6625E4-8292-8882-FBC7-889FFFCBE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36D9F-5990-E3FE-39BF-A257B877C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03A5E-96D1-2190-A081-CF6A6D3404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4682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Process Acceleration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Schulungspräsentation Phase 1–6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 Design System — März 2026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5943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 Design 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Testing Foundation &amp; CI/CD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Storybook Integration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Figma Pipeline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4: Research Agent (/evaluate-component)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5: Quality Dashboard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6: Agent-Netzwerk (Orchestrator)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Überblick: Vorher → Nachher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03474"/>
              </p:ext>
            </p:extLst>
          </p:nvPr>
        </p:nvGraphicFramePr>
        <p:xfrm>
          <a:off x="731520" y="1097280"/>
          <a:ext cx="7772400" cy="2880360"/>
        </p:xfrm>
        <a:graphic>
          <a:graphicData uri="http://schemas.openxmlformats.org/drawingml/2006/table">
            <a:tbl>
              <a:tblPr/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Metrik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Vorher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Nachher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Automatisierte Tests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28 Unit Tests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Storybook Stories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107 auto-generiert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CI/CD Pipelines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2 GitHub Actions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Quality KPIs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 automatisiert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Custom Skills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Build Agents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4 (Builder, Tester, Documenter, Reporter)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Figma Integration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API-Sync + Import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Quality Score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Unbekannt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97/100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2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Foundation &amp; CI/CD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Fundament für alles Weitere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Warum zuerst Tests?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Tests ist jede Automatisierung riskant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sind das Fundament auf dem Phase 2–6 aufbauen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Systems haben besondere Test-Anforderungen: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Token-Konsistenz (SCSS → CSS → Browser)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Recipe-Validität (JSON-Schema)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CSS-Output-Qualität (keine hardcodierten Werte)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Technologie: Vitest (schnell, ESM-native, Vite-kompatibel)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Was wurde implementiert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269292"/>
              </p:ext>
            </p:extLst>
          </p:nvPr>
        </p:nvGraphicFramePr>
        <p:xfrm>
          <a:off x="731520" y="1097280"/>
          <a:ext cx="7772400" cy="2148840"/>
        </p:xfrm>
        <a:graphic>
          <a:graphicData uri="http://schemas.openxmlformats.org/drawingml/2006/table">
            <a:tbl>
              <a:tblPr/>
              <a:tblGrid>
                <a:gridCol w="194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Komponente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Datei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Tests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Was wird geprüft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SCSS Token Tests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tests/scss/tokens.test.mjs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Foundation + Component Tokens, CSS Quality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Recipe Schema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tests/recipes/recipe-schema.test.mjs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JSON-Validierung, Axis-Konsistenz, Token Coverage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CI/CD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.github/workflows/ci.yml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Automatisch bei Push/PR auf main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Skill: /test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.claude/skills/test/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Kontextbezogene Testausführung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Skill: /collateral-check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.claude/skills/collateral-check/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Kollateralschaden-Prüfung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Pro &amp; Con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731076"/>
              </p:ext>
            </p:extLst>
          </p:nvPr>
        </p:nvGraphicFramePr>
        <p:xfrm>
          <a:off x="731520" y="1097280"/>
          <a:ext cx="7772400" cy="16002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28 Tests decken Token-Integrität + Recipe-Konsistenz ab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Keine Visual Regression Tests (Pixel-Vergleich)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CSS-Build wird bei jedem Test verifiziert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Test Coverage nur auf SCSS-Output, nicht Mixin-Logik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Recipe-Validierung fängt JSON-Fehler früh ab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Kein Browser-basiertes Testing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CI/CD verhindert kaputte Merges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Schwellwerte initial großzügig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Beispiel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Token-Vollständigkeit prüfen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fügst einen neuen Spacing-Token --fnd-spacing-14 hinzu. Der Test prüft ob er im CSS-Output erscheint.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test:unit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680960" cy="1373163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Foundation Tokens &gt; enthält Spacing-Tokens    4ms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Component Tokens &gt; enthält Button-Tokens      1ms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CSS Output Quality &gt; CSS Build hat keine Fehler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Files: 2 passed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Tests: 28 passed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Beispiel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Recipe-Validierung nach Änderung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erweiterst accordion-recipe.json um eine neue Axis "media". Der Test prüft ob alle Specimens die neue Axis korrekt referenzieren.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105156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vitest run tests/recipes/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10515600" cy="228600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Recipe JSON Validity &gt; alle Dateien gültiges JSON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Required Fields &gt; alle Recipes haben Identifikation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❌ Specimen Axis Consistency: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Specimen "default" uses undefined axis "media"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Tests: 1 failed | 11 passed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Beispiel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Automatische CI-Prüfung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pushst SCSS-Änderungen. GitHub Actions führt automatisch npm run agents:full aus.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origin main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435686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✅ Install dependencies     12s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✅ Run Agent Network        30s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✅ Builder: CSS 825KB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✅ Tester: 28/28 passed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✅ Documenter: 107 stories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PR bekommt grünes Häkchen ✅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2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Storybook Integration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Komponenten-Stories automatisch generiert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Warum Storybook?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 of Truth für Komponenten-Dokumentation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Visuelles Testing (A11y, Viewport, Theme-Wechsel)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Teilbar mit Designern, PMs, Stakeholdern (ohne Code-Zugriff)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Auto-generiert aus bestehenden Recipe-JSONs (107 Recipes → 107 Stories)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Framework: @storybook/html-vite (nicht Vue — DS ist HTML+SCSS)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Theme Toggle (4 NEO Themes in Toolbar)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Viewport Presets (Mobile/Tablet/Desktop/Wide)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A11y Addon (automatische WCAG-Prüfung)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Auto-Docs (Version, Status, A11y aus Recipe)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Story-Generator: Recipe → Story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78604"/>
              </p:ext>
            </p:extLst>
          </p:nvPr>
        </p:nvGraphicFramePr>
        <p:xfrm>
          <a:off x="731520" y="1097280"/>
          <a:ext cx="7772400" cy="2240280"/>
        </p:xfrm>
        <a:graphic>
          <a:graphicData uri="http://schemas.openxmlformats.org/drawingml/2006/table">
            <a:tbl>
              <a:tblPr/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Input (Recipe JSON)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Output (Storybook Story)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Generiert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meta.component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Title: "Atoms/Button"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Automatisch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anatomy.slots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Default Story HTML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Automatisch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specimens[0..8]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Specimen Stories (bis 8 Varianten)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Automatisch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axes[].values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ArgTypes (Storybook Controls)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Automatisch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a11y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Docs: Accessibility Section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Automatisch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meta.version + status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Docs: "Button v2.0.0 (stable)"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Automatisch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Pro &amp; Con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049109"/>
              </p:ext>
            </p:extLst>
          </p:nvPr>
        </p:nvGraphicFramePr>
        <p:xfrm>
          <a:off x="731520" y="1097280"/>
          <a:ext cx="7772400" cy="16002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107 Stories automatisch — kein manueller Aufwand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HTML-Rendering statisch (keine JS-Interaktion)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Theme-Wechsel in der Toolbar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Specimen-HTML generiert — nicht immer pixel-perfekt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A11y-Addon prüft WCAG automatisch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Kein Vue-Component-Testing in Storybook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Teilbar via GitHub Pages URL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Storybook 8.6 statt 10 (Node-Version)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Beispiel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Neues Recipe → automatisch eine Story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erstellst ein neues tooltip-recipe.json. Stories werden automatisch regeneriert.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generate:stories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Story Generator: 108 stories generated, 0 skipped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Output: stories/{atoms,molecules,organisms}/*.stories.js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storybook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http://localhost:6006 → Atoms/Tooltip erscheint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Beispiel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Theme-Testing im Browser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willst prüfen ob der Button in allen 4 Themes korrekt aussieht.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storybook → http://localhost:6006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68096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Toolbar → Theme Dropdown: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NEO Light   (heller Hintergrund, dunkle Tokens)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NEO Dark    (dunkler Hintergrund, helle Tokens)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Customer Light  (Secondary-Palette)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Customer Dark   (Secondary-Palette, dunkel)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Jeder Wechsel wendet CSS Theme-Klasse an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Beispiel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A11y-Prüfung in Storybook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öffnest die Checkbox-Story und prüfst Accessibility.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Storybook → Atoms/Checkbox → Accessibility Tab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680960" cy="1443502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Violations (2):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❌ Color contrast ratio 3.2:1 &lt; AA threshold 4.5:1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❌ Missing aria-label on icon-only variant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Passes (8):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✅ Interactive elements have focus indicator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✅ Form elements have labels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✅ Touch targets &gt;= 24x24px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2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Pipeline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Tokens bidirektional synchronisieren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Pipeline-Architektur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(Tokens Studio / Variables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9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↓ figma-sync.mjs --pull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data/figma-tokens.json (Rohexport)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9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↓ Transform + Diff + Merge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data/design-tokens.json (Single Source of Truth)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9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↓ generate-tokens.js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scss/scss/00-settings/_tokens-*.generated.scss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9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↓ sass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styles.css → Drupal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Modi: --pull, --diff, --components, --from-file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Beispiel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Farb-Token aus Figma synchronisieren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 hat in Figma die Accent-Farbe von #37e93d auf #2dd636 geändert.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figma:pull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68096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🔄 Fetching Figma File (Styles + Components)...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📊 Token Diff: 1 Änderung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🟡 Geändert: accent.500: #37e93d → #2dd636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design-tokens.json aktualisiert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npm run tokens &amp;&amp; npm run build:css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Beispiel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Studio JSON importieren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 exportiert Token-Datei manuell aus Figma (Tokens Studio Plugin).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figma:import -- --from-file=~/Downloads/tokens-export.json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📥 Importiere Tokens Studio Datei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📊 Token Diff: 8 Änderungen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🟢 Hinzugefügt (3): brand.tertiary.500, neutral.50, accent.950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🟡 Geändert (5): spacing-06, radius-lg, ...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Beispiel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Figma-Komponenten → Recipe Mapping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Prüfe welche Figma-Komponenten ein Recipe haben und welche neu sind.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figma:components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📦 Figma Components → Recipes (24):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🔄 Bestehende (18): button, card, accordion, modal...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🆕 Neue ohne Recipe (6):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tooltip (Tooltip)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skeleton (Skeleton Loader)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progress (Progress Bar)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Recipe scaffolden mit /sync-recipe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2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Agent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/evaluate-component — automatisierte UX-Evaluierung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— 4 parallele Research-Agents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A: UX Best Practices (NNg, Baymard, Smashing Magazine)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B: Design System Benchmarks (Radix, Shadcn, Chakra, Carbon, Ant)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C: WCAG/ARIA Compliance (W3C APG, MDN Web Docs)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D: CSS/Web Platform Trends (@starting-style, Popover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4 Agents laufen PARALLEL → Ergebnis in 3–5 Minuten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Gap-Analyse-Matrix + priorisierte Roadmap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Gespeichert: data/evaluations/&lt;component&gt;-evaluation-&lt;date&gt;.md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— Beispiel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Komponente vor Refactoring evaluieren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willst das Accordion überarbeiten. Vorher: Was machen andere besser?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/evaluate-component accordion --focus=all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55448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Evaluation: Accordion v3.0.0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Gap-Analyse: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Feature    | NEO | Radix | Carbon | Ant | Empfehlung  |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Sortable   |  ❌ |  ❌   |  ❌    |  ✅ | Nice-to-Have|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Motion     |  ❌ |  ✅   |  ✅    |  ✅ | MUST-HAVE   |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Nested     |  ✅ |  ❌   |  ✅    |  ✅ | Behalten    |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Gespeichert: data/evaluations/accordion-evaluation-2026-03-25.md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— Beispiel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A11y-Check vor Release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willst sicherstellen dass das Modal WCAG 2.2 AA-konform ist.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/evaluate-component modal --focus=a11y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482578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A11y-Audit: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✅ role="dialog" (nativ via &lt;dialog&gt;)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✅ aria-modal="true" (nativ via showModal())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❌ aria-describedby fehlt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❌ prefers-reduced-motion nicht implementiert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⚠️ Focus-Restore nur dokumentiert, nicht implementiert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Roadmap: P1 = aria-describedby + reduced-motion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— Beispiel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Trend-basierte Modernisierung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Prüfe ob es neue CSS-Features gibt die den Tooltip verbessern.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/evaluate-component tooltip --focus=variants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365348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CSS Trends 2026: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Popover API (popover="auto") ersetzt JS-Positioning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CSS Anchor Positioning (anchor(), position-try)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@starting-style für Entry-Animationen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popover=hint für Tooltip-spezifisches Verhalten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Empfehlung: Migration zu Popover API + CSS Anchor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2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Dashboard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KPIs — aktuell 97/100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 — 10 KPIs (gewichtet)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7363319"/>
              </p:ext>
            </p:extLst>
          </p:nvPr>
        </p:nvGraphicFramePr>
        <p:xfrm>
          <a:off x="731520" y="1097280"/>
          <a:ext cx="7772400" cy="3520440"/>
        </p:xfrm>
        <a:graphic>
          <a:graphicData uri="http://schemas.openxmlformats.org/drawingml/2006/table">
            <a:tbl>
              <a:tblPr/>
              <a:tblGrid>
                <a:gridCol w="194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Gewicht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Aktuell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Test Coverage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28/28 (100%)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✅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Build Health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825KB CSS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✅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Token Sync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 Drift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❌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Token Coverage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 Violations (100%)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✅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Recipe Completeness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107/107 (100%)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✅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Docs Coverage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107/107 Stories (100%)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✅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Component Maturity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106 stable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✅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Pipeline Sync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50%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⚠️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Bundle Size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825KB (stable)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ℹ️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Evaluations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 (modal)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ℹ️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 — Beispiel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Täglicher Health Check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Morgens kurz den Zustand des Design Systems prüfen.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dashboard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420055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 Score: 97/100 (excellent)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Test Coverage:      28/28 passed (100%)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Build Health:       825KB CSS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Token Coverage:     100% (0 violations)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Docs Coverage:      107/107 with stories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⚠️ Pipeline Sync:      50%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📦 Bundle Size:        825KB (stable)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 — Beispiel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Sprint-Ende Snapshot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jedes Sprints wird ein History-Snapshot gespeichert.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dashboard:snapshot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💾 Snapshot: data/dashboard/history/2026-03-25.json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Nächste Woche: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npm run dashboard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Bundle Size: 830KB (+5KB, growing ↑)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Token Sync: 0 drift (improved! ✅)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 — Beispiel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Quality Gate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PRs werden blockiert wenn der Quality Score unter 80 fällt.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 → Quality Gate Step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SCORE=$(npm run dashboard:json | jq .overallScore)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[ "$SCORE" -lt 80 ]; then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echo "❌ Quality gate failed ($SCORE &lt; 80)"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exit 1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PR wird blockiert bis Score &gt;= 80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02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Agent-Netzwerk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Agents, 12 Checks, 30 Sekunden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 — Architektur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— Koordiniert alle Agents, erkennt geänderte Dateien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8A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┌── Builder (5 Checks, ~6s)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   Token Gen, CSS Build, Token Sync, Token Lint, Recipe Lint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9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├── Tester (4 Checks, ~10s)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   Vitest, Pipeline Guard, Fragment Lint, Script Lint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C1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├── Documenter (3 Checks, ~14s)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   Story Generation, Docs Lint, Dashboard Snapshot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└── Reporter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Aggregation, JSON Export, Empfehlungen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 — 3 Ausführungsmodi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112670"/>
              </p:ext>
            </p:extLst>
          </p:nvPr>
        </p:nvGraphicFramePr>
        <p:xfrm>
          <a:off x="731520" y="1097280"/>
          <a:ext cx="7772400" cy="1356360"/>
        </p:xfrm>
        <a:graphic>
          <a:graphicData uri="http://schemas.openxmlformats.org/drawingml/2006/table">
            <a:tbl>
              <a:tblPr/>
              <a:tblGrid>
                <a:gridCol w="194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Modus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Command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Dauer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Wann verwenden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Quick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npm run agents:quick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~5s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Nach einzelner SCSS-Änderung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npm run agents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~15s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Standard — erkennt geänderte Dateien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Full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npm run agents:full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~30s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Vor Commit, in CI/CD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 — Beispiel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 nach SCSS-Änderung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hast _button.scss geändert und willst schnell prüfen.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agents:quick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[Builder] ✅ CSS build successful (825KB)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[Builder] ✅ No hardcoded values found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Overall: 2 passed, 0 warnings, 0 failed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⏱️ Duration: 5.1s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 — Beispiel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 Pipeline vor dem Commit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Checks durchlaufen bevor du pushst.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agents:full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435686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[Builder]    ✅ CSS 825KB, Token Sync, Lint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[Tester]     ✅ 28/28 Tests, Pipeline Guard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[Documenter] ✅ 107 Stories, Dashboard 97/100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Overall: 12 passed, 0 warnings, 0 failed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⏱️ Total: 29.8s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💾 Report: data/dashboard/last-pipeline-run.json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 — Beispiel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Kontextbezogen nach einzelner Datei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relevante Checks für eine bestimmte Datei ausführen.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agents/orchestrator.mjs --changed=data/button-recipe.json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435686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Mode: Single file — data/button-recipe.json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Files: 1 recipe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[Builder] ✅ Recipe Lint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[Tester]  ✅ Vitest (28/28)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[Documenter] ✅ 107 Stories regenerated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Overall: 3 passed — nur Recipe-relevante Checks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02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manuell zu automatisiert in 6 Phasen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Phasen — Überblick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8A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TESTING      → "Können wir es messen?"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8A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STORYBOOK    → "Können wir es zeigen?"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8A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FIGMA        → "Können wir es designen?"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8A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4: RESEARCH     → "Können wir es verbessern?"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8A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5: DASHBOARD    → "Wie gut ist es?"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8A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6: AGENTS       → "Läuft es automatisch?"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Workflow: Vorher → Nachher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5332058"/>
              </p:ext>
            </p:extLst>
          </p:nvPr>
        </p:nvGraphicFramePr>
        <p:xfrm>
          <a:off x="731520" y="1097280"/>
          <a:ext cx="7772400" cy="2560320"/>
        </p:xfrm>
        <a:graphic>
          <a:graphicData uri="http://schemas.openxmlformats.org/drawingml/2006/table">
            <a:tbl>
              <a:tblPr/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Workflow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Vorher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Nachher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CSS-Änderung prüfen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Manuell Browser refreshen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npm run agents:quick (5s)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Neues Recipe erstellen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Manuell Arena + Inspector updaten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/sync-recipe &lt;name&gt;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Komponente evaluieren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Gemini + 30min Recherche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/evaluate-component (3min)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Quality Check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"Hoffentlich funktioniert alles"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npm run dashboard → 97/100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Storybook aktualisieren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Stories manuell schreiben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npm run generate:stories (107)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Drupal Block erstellen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7 manuelle Schritte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/create-drupal-block &lt;id&gt;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Wettbewerber analysieren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Website manuell durchklicken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/analyze-competitor &lt;url&gt;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DD5D2-EBD5-5DA2-F840-8B6C9F439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2FE80AF-94D1-1014-9080-3A1EC10A198B}"/>
              </a:ext>
            </a:extLst>
          </p:cNvPr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Übersicht</a:t>
            </a: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22118FA-F1DB-C6E1-8BF1-E5E1D53E2B84}"/>
              </a:ext>
            </a:extLst>
          </p:cNvPr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MCP Server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2F57891-A26B-D2C7-A862-E0A25F8EB2B0}"/>
              </a:ext>
            </a:extLst>
          </p:cNvPr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780540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40FD4-969B-D506-E44D-4AFFBFBBC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4383154-1C90-D351-8860-9DA4D27C2339}"/>
              </a:ext>
            </a:extLst>
          </p:cNvPr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Installation Figma MCP Server</a:t>
            </a:r>
            <a:endParaRPr lang="en-US" sz="2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EA90787-0AEF-BBEA-8184-D70C7E2B951B}"/>
              </a:ext>
            </a:extLst>
          </p:cNvPr>
          <p:cNvSpPr/>
          <p:nvPr/>
        </p:nvSpPr>
        <p:spPr>
          <a:xfrm>
            <a:off x="731520" y="1097280"/>
            <a:ext cx="7772400" cy="35385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de-DE" sz="800" b="1" dirty="0">
                <a:latin typeface="OCRB" panose="020B0609020202020204" pitchFamily="49" charset="77"/>
              </a:rPr>
              <a:t>### Schritt 1: MCP Server hinzufügen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In einer Claude Code Terminal-Session:</a:t>
            </a:r>
          </a:p>
          <a:p>
            <a:r>
              <a:rPr lang="de-DE" sz="800" dirty="0">
                <a:latin typeface="OCRB" panose="020B0609020202020204" pitchFamily="49" charset="77"/>
              </a:rPr>
              <a:t>```bash</a:t>
            </a:r>
          </a:p>
          <a:p>
            <a:r>
              <a:rPr lang="de-DE" sz="800" dirty="0" err="1">
                <a:latin typeface="OCRB" panose="020B0609020202020204" pitchFamily="49" charset="77"/>
              </a:rPr>
              <a:t>claude</a:t>
            </a:r>
            <a:r>
              <a:rPr lang="de-DE" sz="800" dirty="0">
                <a:latin typeface="OCRB" panose="020B0609020202020204" pitchFamily="49" charset="77"/>
              </a:rPr>
              <a:t> </a:t>
            </a:r>
            <a:r>
              <a:rPr lang="de-DE" sz="800" dirty="0" err="1">
                <a:latin typeface="OCRB" panose="020B0609020202020204" pitchFamily="49" charset="77"/>
              </a:rPr>
              <a:t>mcp</a:t>
            </a:r>
            <a:r>
              <a:rPr lang="de-DE" sz="800" dirty="0">
                <a:latin typeface="OCRB" panose="020B0609020202020204" pitchFamily="49" charset="77"/>
              </a:rPr>
              <a:t> </a:t>
            </a:r>
            <a:r>
              <a:rPr lang="de-DE" sz="800" dirty="0" err="1">
                <a:latin typeface="OCRB" panose="020B0609020202020204" pitchFamily="49" charset="77"/>
              </a:rPr>
              <a:t>add</a:t>
            </a:r>
            <a:r>
              <a:rPr lang="de-DE" sz="800" dirty="0">
                <a:latin typeface="OCRB" panose="020B0609020202020204" pitchFamily="49" charset="77"/>
              </a:rPr>
              <a:t> --transport http </a:t>
            </a:r>
            <a:r>
              <a:rPr lang="de-DE" sz="800" dirty="0" err="1">
                <a:latin typeface="OCRB" panose="020B0609020202020204" pitchFamily="49" charset="77"/>
              </a:rPr>
              <a:t>figma</a:t>
            </a:r>
            <a:r>
              <a:rPr lang="de-DE" sz="800" dirty="0">
                <a:latin typeface="OCRB" panose="020B0609020202020204" pitchFamily="49" charset="77"/>
              </a:rPr>
              <a:t> https://</a:t>
            </a:r>
            <a:r>
              <a:rPr lang="de-DE" sz="800" dirty="0" err="1">
                <a:latin typeface="OCRB" panose="020B0609020202020204" pitchFamily="49" charset="77"/>
              </a:rPr>
              <a:t>mcp.figma.com</a:t>
            </a:r>
            <a:r>
              <a:rPr lang="de-DE" sz="800" dirty="0">
                <a:latin typeface="OCRB" panose="020B0609020202020204" pitchFamily="49" charset="77"/>
              </a:rPr>
              <a:t>/</a:t>
            </a:r>
            <a:r>
              <a:rPr lang="de-DE" sz="800" dirty="0" err="1">
                <a:latin typeface="OCRB" panose="020B0609020202020204" pitchFamily="49" charset="77"/>
              </a:rPr>
              <a:t>mcp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</a:t>
            </a:r>
          </a:p>
          <a:p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b="1" dirty="0">
                <a:latin typeface="OCRB" panose="020B0609020202020204" pitchFamily="49" charset="77"/>
              </a:rPr>
              <a:t>### Schritt 2: Session neustarten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```bash</a:t>
            </a:r>
          </a:p>
          <a:p>
            <a:r>
              <a:rPr lang="de-DE" sz="800" dirty="0">
                <a:latin typeface="OCRB" panose="020B0609020202020204" pitchFamily="49" charset="77"/>
              </a:rPr>
              <a:t>/</a:t>
            </a:r>
            <a:r>
              <a:rPr lang="de-DE" sz="800" dirty="0" err="1">
                <a:latin typeface="OCRB" panose="020B0609020202020204" pitchFamily="49" charset="77"/>
              </a:rPr>
              <a:t>exit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 err="1">
                <a:latin typeface="OCRB" panose="020B0609020202020204" pitchFamily="49" charset="77"/>
              </a:rPr>
              <a:t>claude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</a:t>
            </a:r>
          </a:p>
          <a:p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b="1" dirty="0">
                <a:latin typeface="OCRB" panose="020B0609020202020204" pitchFamily="49" charset="77"/>
              </a:rPr>
              <a:t>### Schritt 3: MCP konfigurieren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```bash</a:t>
            </a:r>
          </a:p>
          <a:p>
            <a:r>
              <a:rPr lang="de-DE" sz="800" dirty="0">
                <a:latin typeface="OCRB" panose="020B0609020202020204" pitchFamily="49" charset="77"/>
              </a:rPr>
              <a:t>/</a:t>
            </a:r>
            <a:r>
              <a:rPr lang="de-DE" sz="800" dirty="0" err="1">
                <a:latin typeface="OCRB" panose="020B0609020202020204" pitchFamily="49" charset="77"/>
              </a:rPr>
              <a:t>mcp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</a:t>
            </a:r>
          </a:p>
          <a:p>
            <a:r>
              <a:rPr lang="de-DE" sz="800" dirty="0">
                <a:latin typeface="OCRB" panose="020B0609020202020204" pitchFamily="49" charset="77"/>
              </a:rPr>
              <a:t>→ "</a:t>
            </a:r>
            <a:r>
              <a:rPr lang="de-DE" sz="800" dirty="0" err="1">
                <a:latin typeface="OCRB" panose="020B0609020202020204" pitchFamily="49" charset="77"/>
              </a:rPr>
              <a:t>figma</a:t>
            </a:r>
            <a:r>
              <a:rPr lang="de-DE" sz="800" dirty="0">
                <a:latin typeface="OCRB" panose="020B0609020202020204" pitchFamily="49" charset="77"/>
              </a:rPr>
              <a:t>" aus der Liste wählen → "</a:t>
            </a:r>
            <a:r>
              <a:rPr lang="de-DE" sz="800" dirty="0" err="1">
                <a:latin typeface="OCRB" panose="020B0609020202020204" pitchFamily="49" charset="77"/>
              </a:rPr>
              <a:t>Authenticate</a:t>
            </a:r>
            <a:r>
              <a:rPr lang="de-DE" sz="800" dirty="0">
                <a:latin typeface="OCRB" panose="020B0609020202020204" pitchFamily="49" charset="77"/>
              </a:rPr>
              <a:t>" → Browser-Fenster öffnet sich → </a:t>
            </a:r>
            <a:r>
              <a:rPr lang="de-DE" sz="800" dirty="0" err="1">
                <a:latin typeface="OCRB" panose="020B0609020202020204" pitchFamily="49" charset="77"/>
              </a:rPr>
              <a:t>Figma</a:t>
            </a:r>
            <a:r>
              <a:rPr lang="de-DE" sz="800" dirty="0">
                <a:latin typeface="OCRB" panose="020B0609020202020204" pitchFamily="49" charset="77"/>
              </a:rPr>
              <a:t>-Konto bestätigen.</a:t>
            </a:r>
          </a:p>
          <a:p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b="1" dirty="0">
                <a:latin typeface="OCRB" panose="020B0609020202020204" pitchFamily="49" charset="77"/>
              </a:rPr>
              <a:t>**Wichtig:**</a:t>
            </a:r>
            <a:r>
              <a:rPr lang="de-DE" sz="800" dirty="0">
                <a:latin typeface="OCRB" panose="020B0609020202020204" pitchFamily="49" charset="77"/>
              </a:rPr>
              <a:t> Richtiges </a:t>
            </a:r>
            <a:r>
              <a:rPr lang="de-DE" sz="800" dirty="0" err="1">
                <a:latin typeface="OCRB" panose="020B0609020202020204" pitchFamily="49" charset="77"/>
              </a:rPr>
              <a:t>Figma</a:t>
            </a:r>
            <a:r>
              <a:rPr lang="de-DE" sz="800" dirty="0">
                <a:latin typeface="OCRB" panose="020B0609020202020204" pitchFamily="49" charset="77"/>
              </a:rPr>
              <a:t>-Konto wählen (E-Mail prüfen!). Bei falschem Konto: "Switch </a:t>
            </a:r>
            <a:r>
              <a:rPr lang="de-DE" sz="800" dirty="0" err="1">
                <a:latin typeface="OCRB" panose="020B0609020202020204" pitchFamily="49" charset="77"/>
              </a:rPr>
              <a:t>accounts</a:t>
            </a:r>
            <a:r>
              <a:rPr lang="de-DE" sz="800" dirty="0">
                <a:latin typeface="OCRB" panose="020B0609020202020204" pitchFamily="49" charset="77"/>
              </a:rPr>
              <a:t>".</a:t>
            </a:r>
          </a:p>
          <a:p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b="1" dirty="0">
                <a:latin typeface="OCRB" panose="020B0609020202020204" pitchFamily="49" charset="77"/>
              </a:rPr>
              <a:t>### Schritt 4: </a:t>
            </a:r>
            <a:r>
              <a:rPr lang="de-DE" sz="800" b="1" dirty="0" err="1">
                <a:latin typeface="OCRB" panose="020B0609020202020204" pitchFamily="49" charset="77"/>
              </a:rPr>
              <a:t>Figma</a:t>
            </a:r>
            <a:r>
              <a:rPr lang="de-DE" sz="800" b="1" dirty="0">
                <a:latin typeface="OCRB" panose="020B0609020202020204" pitchFamily="49" charset="77"/>
              </a:rPr>
              <a:t> Plugin installieren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```bash</a:t>
            </a:r>
          </a:p>
          <a:p>
            <a:r>
              <a:rPr lang="de-DE" sz="800" dirty="0">
                <a:latin typeface="OCRB" panose="020B0609020202020204" pitchFamily="49" charset="77"/>
              </a:rPr>
              <a:t>/</a:t>
            </a:r>
            <a:r>
              <a:rPr lang="de-DE" sz="800" dirty="0" err="1">
                <a:latin typeface="OCRB" panose="020B0609020202020204" pitchFamily="49" charset="77"/>
              </a:rPr>
              <a:t>plugin</a:t>
            </a:r>
            <a:r>
              <a:rPr lang="de-DE" sz="800" dirty="0">
                <a:latin typeface="OCRB" panose="020B0609020202020204" pitchFamily="49" charset="77"/>
              </a:rPr>
              <a:t> </a:t>
            </a:r>
            <a:r>
              <a:rPr lang="de-DE" sz="800" dirty="0" err="1">
                <a:latin typeface="OCRB" panose="020B0609020202020204" pitchFamily="49" charset="77"/>
              </a:rPr>
              <a:t>install</a:t>
            </a:r>
            <a:r>
              <a:rPr lang="de-DE" sz="800" dirty="0">
                <a:latin typeface="OCRB" panose="020B0609020202020204" pitchFamily="49" charset="77"/>
              </a:rPr>
              <a:t> </a:t>
            </a:r>
            <a:r>
              <a:rPr lang="de-DE" sz="800" dirty="0" err="1">
                <a:latin typeface="OCRB" panose="020B0609020202020204" pitchFamily="49" charset="77"/>
              </a:rPr>
              <a:t>figma@claude-plugins-official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</a:t>
            </a:r>
            <a:br>
              <a:rPr lang="de-DE" sz="800" dirty="0">
                <a:latin typeface="OCRB" panose="020B0609020202020204" pitchFamily="49" charset="77"/>
              </a:rPr>
            </a:b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b="1" dirty="0">
                <a:latin typeface="OCRB" panose="020B0609020202020204" pitchFamily="49" charset="77"/>
              </a:rPr>
              <a:t>### Schritt 5: Verifizieren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```bash</a:t>
            </a:r>
          </a:p>
          <a:p>
            <a:r>
              <a:rPr lang="de-DE" sz="800" dirty="0">
                <a:latin typeface="OCRB" panose="020B0609020202020204" pitchFamily="49" charset="77"/>
              </a:rPr>
              <a:t>/</a:t>
            </a:r>
            <a:r>
              <a:rPr lang="de-DE" sz="800" dirty="0" err="1">
                <a:latin typeface="OCRB" panose="020B0609020202020204" pitchFamily="49" charset="77"/>
              </a:rPr>
              <a:t>mcp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</a:t>
            </a:r>
          </a:p>
          <a:p>
            <a:r>
              <a:rPr lang="de-DE" sz="800" dirty="0">
                <a:latin typeface="OCRB" panose="020B0609020202020204" pitchFamily="49" charset="77"/>
              </a:rPr>
              <a:t>→ "</a:t>
            </a:r>
            <a:r>
              <a:rPr lang="de-DE" sz="800" dirty="0" err="1">
                <a:latin typeface="OCRB" panose="020B0609020202020204" pitchFamily="49" charset="77"/>
              </a:rPr>
              <a:t>figma</a:t>
            </a:r>
            <a:r>
              <a:rPr lang="de-DE" sz="800" dirty="0">
                <a:latin typeface="OCRB" panose="020B0609020202020204" pitchFamily="49" charset="77"/>
              </a:rPr>
              <a:t>" sollte als "</a:t>
            </a:r>
            <a:r>
              <a:rPr lang="de-DE" sz="800" dirty="0" err="1">
                <a:latin typeface="OCRB" panose="020B0609020202020204" pitchFamily="49" charset="77"/>
              </a:rPr>
              <a:t>connected</a:t>
            </a:r>
            <a:r>
              <a:rPr lang="de-DE" sz="800" dirty="0">
                <a:latin typeface="OCRB" panose="020B0609020202020204" pitchFamily="49" charset="77"/>
              </a:rPr>
              <a:t>" angezeigt werden.</a:t>
            </a:r>
          </a:p>
        </p:txBody>
      </p:sp>
    </p:spTree>
    <p:extLst>
      <p:ext uri="{BB962C8B-B14F-4D97-AF65-F5344CB8AC3E}">
        <p14:creationId xmlns:p14="http://schemas.microsoft.com/office/powerpoint/2010/main" val="30014750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CDEA9-DA83-430D-B1D6-5B3174EDB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1A63F4B-D4D3-2CA1-0887-19BE639C4C70}"/>
              </a:ext>
            </a:extLst>
          </p:cNvPr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Nutzung</a:t>
            </a: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Figma MCP Server</a:t>
            </a:r>
            <a:endParaRPr lang="en-US" sz="2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4621DC1-C1F0-31D8-8D0A-57F1C9875054}"/>
              </a:ext>
            </a:extLst>
          </p:cNvPr>
          <p:cNvSpPr/>
          <p:nvPr/>
        </p:nvSpPr>
        <p:spPr>
          <a:xfrm>
            <a:off x="731520" y="1097280"/>
            <a:ext cx="7772400" cy="36554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de-DE" sz="1400" b="1" dirty="0">
                <a:latin typeface="OCRB" panose="020B0609020202020204" pitchFamily="49" charset="77"/>
              </a:rPr>
              <a:t>### Design nach </a:t>
            </a:r>
            <a:r>
              <a:rPr lang="de-DE" sz="1400" b="1" dirty="0" err="1">
                <a:latin typeface="OCRB" panose="020B0609020202020204" pitchFamily="49" charset="77"/>
              </a:rPr>
              <a:t>Figma</a:t>
            </a:r>
            <a:r>
              <a:rPr lang="de-DE" sz="1400" b="1" dirty="0">
                <a:latin typeface="OCRB" panose="020B0609020202020204" pitchFamily="49" charset="77"/>
              </a:rPr>
              <a:t> exportieren</a:t>
            </a:r>
            <a:endParaRPr lang="de-DE" sz="1400" dirty="0">
              <a:latin typeface="OCRB" panose="020B0609020202020204" pitchFamily="49" charset="77"/>
            </a:endParaRPr>
          </a:p>
          <a:p>
            <a:r>
              <a:rPr lang="de-DE" sz="1400" dirty="0">
                <a:latin typeface="OCRB" panose="020B0609020202020204" pitchFamily="49" charset="77"/>
              </a:rPr>
              <a:t>```</a:t>
            </a:r>
          </a:p>
          <a:p>
            <a:r>
              <a:rPr lang="de-DE" sz="1400" dirty="0" err="1">
                <a:latin typeface="OCRB" panose="020B0609020202020204" pitchFamily="49" charset="77"/>
              </a:rPr>
              <a:t>transfer</a:t>
            </a:r>
            <a:r>
              <a:rPr lang="de-DE" sz="1400" dirty="0">
                <a:latin typeface="OCRB" panose="020B0609020202020204" pitchFamily="49" charset="77"/>
              </a:rPr>
              <a:t> </a:t>
            </a:r>
            <a:r>
              <a:rPr lang="de-DE" sz="1400" dirty="0" err="1">
                <a:latin typeface="OCRB" panose="020B0609020202020204" pitchFamily="49" charset="77"/>
              </a:rPr>
              <a:t>this</a:t>
            </a:r>
            <a:r>
              <a:rPr lang="de-DE" sz="1400" dirty="0">
                <a:latin typeface="OCRB" panose="020B0609020202020204" pitchFamily="49" charset="77"/>
              </a:rPr>
              <a:t> design </a:t>
            </a:r>
            <a:r>
              <a:rPr lang="de-DE" sz="1400" dirty="0" err="1">
                <a:latin typeface="OCRB" panose="020B0609020202020204" pitchFamily="49" charset="77"/>
              </a:rPr>
              <a:t>into</a:t>
            </a:r>
            <a:r>
              <a:rPr lang="de-DE" sz="1400" dirty="0">
                <a:latin typeface="OCRB" panose="020B0609020202020204" pitchFamily="49" charset="77"/>
              </a:rPr>
              <a:t> </a:t>
            </a:r>
            <a:r>
              <a:rPr lang="de-DE" sz="1400" dirty="0" err="1">
                <a:latin typeface="OCRB" panose="020B0609020202020204" pitchFamily="49" charset="77"/>
              </a:rPr>
              <a:t>Figma</a:t>
            </a:r>
            <a:r>
              <a:rPr lang="de-DE" sz="1400" dirty="0">
                <a:latin typeface="OCRB" panose="020B0609020202020204" pitchFamily="49" charset="77"/>
              </a:rPr>
              <a:t> [FIGMA FILE LINK]</a:t>
            </a:r>
          </a:p>
          <a:p>
            <a:r>
              <a:rPr lang="de-DE" sz="1400" dirty="0">
                <a:latin typeface="OCRB" panose="020B0609020202020204" pitchFamily="49" charset="77"/>
              </a:rPr>
              <a:t>```</a:t>
            </a:r>
          </a:p>
          <a:p>
            <a:endParaRPr lang="de-DE" sz="1400" dirty="0">
              <a:latin typeface="OCRB" panose="020B0609020202020204" pitchFamily="49" charset="77"/>
            </a:endParaRPr>
          </a:p>
          <a:p>
            <a:r>
              <a:rPr lang="de-DE" sz="1400" b="1" dirty="0">
                <a:latin typeface="OCRB" panose="020B0609020202020204" pitchFamily="49" charset="77"/>
              </a:rPr>
              <a:t>### </a:t>
            </a:r>
            <a:r>
              <a:rPr lang="de-DE" sz="1400" b="1" dirty="0" err="1">
                <a:latin typeface="OCRB" panose="020B0609020202020204" pitchFamily="49" charset="77"/>
              </a:rPr>
              <a:t>Figma</a:t>
            </a:r>
            <a:r>
              <a:rPr lang="de-DE" sz="1400" b="1" dirty="0">
                <a:latin typeface="OCRB" panose="020B0609020202020204" pitchFamily="49" charset="77"/>
              </a:rPr>
              <a:t>-Änderungen in Code übernehmen</a:t>
            </a:r>
            <a:endParaRPr lang="de-DE" sz="1400" dirty="0">
              <a:latin typeface="OCRB" panose="020B0609020202020204" pitchFamily="49" charset="77"/>
            </a:endParaRPr>
          </a:p>
          <a:p>
            <a:r>
              <a:rPr lang="de-DE" sz="1400" dirty="0">
                <a:latin typeface="OCRB" panose="020B0609020202020204" pitchFamily="49" charset="77"/>
              </a:rPr>
              <a:t>```</a:t>
            </a:r>
          </a:p>
          <a:p>
            <a:r>
              <a:rPr lang="de-DE" sz="1400" dirty="0">
                <a:latin typeface="OCRB" panose="020B0609020202020204" pitchFamily="49" charset="77"/>
              </a:rPr>
              <a:t>update </a:t>
            </a:r>
            <a:r>
              <a:rPr lang="de-DE" sz="1400" dirty="0" err="1">
                <a:latin typeface="OCRB" panose="020B0609020202020204" pitchFamily="49" charset="77"/>
              </a:rPr>
              <a:t>the</a:t>
            </a:r>
            <a:r>
              <a:rPr lang="de-DE" sz="1400" dirty="0">
                <a:latin typeface="OCRB" panose="020B0609020202020204" pitchFamily="49" charset="77"/>
              </a:rPr>
              <a:t> style </a:t>
            </a:r>
            <a:r>
              <a:rPr lang="de-DE" sz="1400" dirty="0" err="1">
                <a:latin typeface="OCRB" panose="020B0609020202020204" pitchFamily="49" charset="77"/>
              </a:rPr>
              <a:t>according</a:t>
            </a:r>
            <a:r>
              <a:rPr lang="de-DE" sz="1400" dirty="0">
                <a:latin typeface="OCRB" panose="020B0609020202020204" pitchFamily="49" charset="77"/>
              </a:rPr>
              <a:t> </a:t>
            </a:r>
            <a:r>
              <a:rPr lang="de-DE" sz="1400" dirty="0" err="1">
                <a:latin typeface="OCRB" panose="020B0609020202020204" pitchFamily="49" charset="77"/>
              </a:rPr>
              <a:t>to</a:t>
            </a:r>
            <a:r>
              <a:rPr lang="de-DE" sz="1400" dirty="0">
                <a:latin typeface="OCRB" panose="020B0609020202020204" pitchFamily="49" charset="77"/>
              </a:rPr>
              <a:t> </a:t>
            </a:r>
            <a:r>
              <a:rPr lang="de-DE" sz="1400" dirty="0" err="1">
                <a:latin typeface="OCRB" panose="020B0609020202020204" pitchFamily="49" charset="77"/>
              </a:rPr>
              <a:t>this</a:t>
            </a:r>
            <a:r>
              <a:rPr lang="de-DE" sz="1400" dirty="0">
                <a:latin typeface="OCRB" panose="020B0609020202020204" pitchFamily="49" charset="77"/>
              </a:rPr>
              <a:t> [FIGMA SELECTION LINK]</a:t>
            </a:r>
          </a:p>
          <a:p>
            <a:r>
              <a:rPr lang="de-DE" sz="1400" dirty="0">
                <a:latin typeface="OCRB" panose="020B0609020202020204" pitchFamily="49" charset="77"/>
              </a:rPr>
              <a:t>```</a:t>
            </a:r>
          </a:p>
          <a:p>
            <a:endParaRPr lang="de-DE" sz="1400" dirty="0">
              <a:latin typeface="OCRB" panose="020B0609020202020204" pitchFamily="49" charset="77"/>
            </a:endParaRPr>
          </a:p>
          <a:p>
            <a:r>
              <a:rPr lang="de-DE" sz="1400" b="1" dirty="0">
                <a:latin typeface="OCRB" panose="020B0609020202020204" pitchFamily="49" charset="77"/>
              </a:rPr>
              <a:t>### Komponente aus </a:t>
            </a:r>
            <a:r>
              <a:rPr lang="de-DE" sz="1400" b="1" dirty="0" err="1">
                <a:latin typeface="OCRB" panose="020B0609020202020204" pitchFamily="49" charset="77"/>
              </a:rPr>
              <a:t>Figma</a:t>
            </a:r>
            <a:r>
              <a:rPr lang="de-DE" sz="1400" b="1" dirty="0">
                <a:latin typeface="OCRB" panose="020B0609020202020204" pitchFamily="49" charset="77"/>
              </a:rPr>
              <a:t> dokumentieren</a:t>
            </a:r>
            <a:endParaRPr lang="de-DE" sz="1400" dirty="0">
              <a:latin typeface="OCRB" panose="020B0609020202020204" pitchFamily="49" charset="77"/>
            </a:endParaRPr>
          </a:p>
          <a:p>
            <a:r>
              <a:rPr lang="de-DE" sz="1400" dirty="0">
                <a:latin typeface="OCRB" panose="020B0609020202020204" pitchFamily="49" charset="77"/>
              </a:rPr>
              <a:t>```</a:t>
            </a:r>
          </a:p>
          <a:p>
            <a:r>
              <a:rPr lang="de-DE" sz="1400" dirty="0" err="1">
                <a:latin typeface="OCRB" panose="020B0609020202020204" pitchFamily="49" charset="77"/>
              </a:rPr>
              <a:t>document</a:t>
            </a:r>
            <a:r>
              <a:rPr lang="de-DE" sz="1400" dirty="0">
                <a:latin typeface="OCRB" panose="020B0609020202020204" pitchFamily="49" charset="77"/>
              </a:rPr>
              <a:t> </a:t>
            </a:r>
            <a:r>
              <a:rPr lang="de-DE" sz="1400" dirty="0" err="1">
                <a:latin typeface="OCRB" panose="020B0609020202020204" pitchFamily="49" charset="77"/>
              </a:rPr>
              <a:t>this</a:t>
            </a:r>
            <a:r>
              <a:rPr lang="de-DE" sz="1400" dirty="0">
                <a:latin typeface="OCRB" panose="020B0609020202020204" pitchFamily="49" charset="77"/>
              </a:rPr>
              <a:t> </a:t>
            </a:r>
            <a:r>
              <a:rPr lang="de-DE" sz="1400" dirty="0" err="1">
                <a:latin typeface="OCRB" panose="020B0609020202020204" pitchFamily="49" charset="77"/>
              </a:rPr>
              <a:t>component</a:t>
            </a:r>
            <a:r>
              <a:rPr lang="de-DE" sz="1400" dirty="0">
                <a:latin typeface="OCRB" panose="020B0609020202020204" pitchFamily="49" charset="77"/>
              </a:rPr>
              <a:t> [FIGMA SELECTION LINK]</a:t>
            </a:r>
          </a:p>
          <a:p>
            <a:r>
              <a:rPr lang="de-DE" sz="1400" dirty="0">
                <a:latin typeface="OCRB" panose="020B0609020202020204" pitchFamily="49" charset="77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3225848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1E62A-15B0-BE5B-3CD5-42C2FA6D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C741FE0-07E8-6657-774B-5AC926A5FC4E}"/>
              </a:ext>
            </a:extLst>
          </p:cNvPr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Bekannte</a:t>
            </a: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200" b="1" dirty="0" err="1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Limitierungen</a:t>
            </a: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(Stand März 2026)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4EA104F-1606-228F-C43F-BD7602901E33}"/>
              </a:ext>
            </a:extLst>
          </p:cNvPr>
          <p:cNvSpPr/>
          <p:nvPr/>
        </p:nvSpPr>
        <p:spPr>
          <a:xfrm>
            <a:off x="731520" y="1097280"/>
            <a:ext cx="7772400" cy="36554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AutoNum type="arabicPeriod"/>
            </a:pPr>
            <a:r>
              <a:rPr lang="de-DE" sz="1400" b="1" dirty="0">
                <a:latin typeface="OCRB" panose="020B0609020202020204" pitchFamily="49" charset="77"/>
              </a:rPr>
              <a:t>**Auto-Layout**: Export zu </a:t>
            </a:r>
            <a:r>
              <a:rPr lang="de-DE" sz="1400" b="1" dirty="0" err="1">
                <a:latin typeface="OCRB" panose="020B0609020202020204" pitchFamily="49" charset="77"/>
              </a:rPr>
              <a:t>Figma</a:t>
            </a:r>
            <a:r>
              <a:rPr lang="de-DE" sz="1400" b="1" dirty="0">
                <a:latin typeface="OCRB" panose="020B0609020202020204" pitchFamily="49" charset="77"/>
              </a:rPr>
              <a:t> hat Layout-Probleme, nicht responsive</a:t>
            </a:r>
          </a:p>
          <a:p>
            <a:pPr marL="342900" indent="-342900">
              <a:buAutoNum type="arabicPeriod"/>
            </a:pPr>
            <a:endParaRPr lang="de-DE" sz="1400" b="1" dirty="0">
              <a:latin typeface="OCRB" panose="020B0609020202020204" pitchFamily="49" charset="77"/>
            </a:endParaRPr>
          </a:p>
          <a:p>
            <a:r>
              <a:rPr lang="de-DE" sz="1400" b="1" dirty="0">
                <a:latin typeface="OCRB" panose="020B0609020202020204" pitchFamily="49" charset="77"/>
              </a:rPr>
              <a:t>2. **Keine Components**: UI-Elemente als Frames, nicht als </a:t>
            </a:r>
            <a:r>
              <a:rPr lang="de-DE" sz="1400" b="1" dirty="0" err="1">
                <a:latin typeface="OCRB" panose="020B0609020202020204" pitchFamily="49" charset="77"/>
              </a:rPr>
              <a:t>Figma</a:t>
            </a:r>
            <a:r>
              <a:rPr lang="de-DE" sz="1400" b="1" dirty="0">
                <a:latin typeface="OCRB" panose="020B0609020202020204" pitchFamily="49" charset="77"/>
              </a:rPr>
              <a:t> Components</a:t>
            </a:r>
          </a:p>
          <a:p>
            <a:endParaRPr lang="de-DE" sz="1400" b="1" dirty="0">
              <a:latin typeface="OCRB" panose="020B0609020202020204" pitchFamily="49" charset="77"/>
            </a:endParaRPr>
          </a:p>
          <a:p>
            <a:r>
              <a:rPr lang="de-DE" sz="1400" b="1" dirty="0">
                <a:latin typeface="OCRB" panose="020B0609020202020204" pitchFamily="49" charset="77"/>
              </a:rPr>
              <a:t>3. **Styling-Verluste**: Gradienten, komplexe Styles gehen teilweise verloren</a:t>
            </a:r>
          </a:p>
          <a:p>
            <a:endParaRPr lang="de-DE" sz="1400" b="1" dirty="0">
              <a:latin typeface="OCRB" panose="020B0609020202020204" pitchFamily="49" charset="77"/>
            </a:endParaRPr>
          </a:p>
          <a:p>
            <a:r>
              <a:rPr lang="de-DE" sz="1400" b="1" dirty="0">
                <a:latin typeface="OCRB" panose="020B0609020202020204" pitchFamily="49" charset="77"/>
              </a:rPr>
              <a:t>4. **Fehlende </a:t>
            </a:r>
            <a:r>
              <a:rPr lang="de-DE" sz="1400" b="1" dirty="0" err="1">
                <a:latin typeface="OCRB" panose="020B0609020202020204" pitchFamily="49" charset="77"/>
              </a:rPr>
              <a:t>Sections</a:t>
            </a:r>
            <a:r>
              <a:rPr lang="de-DE" sz="1400" b="1" dirty="0">
                <a:latin typeface="OCRB" panose="020B0609020202020204" pitchFamily="49" charset="77"/>
              </a:rPr>
              <a:t>**: Bei komplexen Designs können Teile fehlen</a:t>
            </a:r>
          </a:p>
          <a:p>
            <a:br>
              <a:rPr lang="de-DE" sz="1400" b="1" dirty="0">
                <a:latin typeface="OCRB" panose="020B0609020202020204" pitchFamily="49" charset="77"/>
              </a:rPr>
            </a:br>
            <a:endParaRPr lang="de-DE" sz="1400" b="1" dirty="0">
              <a:latin typeface="OCRB" panose="020B0609020202020204" pitchFamily="49" charset="77"/>
            </a:endParaRPr>
          </a:p>
          <a:p>
            <a:r>
              <a:rPr lang="de-DE" sz="1400" b="1" dirty="0">
                <a:latin typeface="OCRB" panose="020B0609020202020204" pitchFamily="49" charset="77"/>
              </a:rPr>
              <a:t>**Empfehlung:** </a:t>
            </a:r>
            <a:r>
              <a:rPr lang="de-DE" sz="1400" b="1" dirty="0" err="1">
                <a:latin typeface="OCRB" panose="020B0609020202020204" pitchFamily="49" charset="77"/>
              </a:rPr>
              <a:t>Figma</a:t>
            </a:r>
            <a:r>
              <a:rPr lang="de-DE" sz="1400" b="1" dirty="0">
                <a:latin typeface="OCRB" panose="020B0609020202020204" pitchFamily="49" charset="77"/>
              </a:rPr>
              <a:t> MCP für **Dokumentation** und **visuelle Inspektion** nutzen, nicht für Produktions-Export. Für Token-</a:t>
            </a:r>
            <a:r>
              <a:rPr lang="de-DE" sz="1400" b="1" dirty="0" err="1">
                <a:latin typeface="OCRB" panose="020B0609020202020204" pitchFamily="49" charset="77"/>
              </a:rPr>
              <a:t>Sync</a:t>
            </a:r>
            <a:r>
              <a:rPr lang="de-DE" sz="1400" b="1" dirty="0">
                <a:latin typeface="OCRB" panose="020B0609020202020204" pitchFamily="49" charset="77"/>
              </a:rPr>
              <a:t> weiterhin `</a:t>
            </a:r>
            <a:r>
              <a:rPr lang="de-DE" sz="1400" b="1" dirty="0" err="1">
                <a:latin typeface="OCRB" panose="020B0609020202020204" pitchFamily="49" charset="77"/>
              </a:rPr>
              <a:t>figma-sync.mjs</a:t>
            </a:r>
            <a:r>
              <a:rPr lang="de-DE" sz="1400" b="1" dirty="0">
                <a:latin typeface="OCRB" panose="020B0609020202020204" pitchFamily="49" charset="77"/>
              </a:rPr>
              <a:t>` verwenden.</a:t>
            </a:r>
          </a:p>
          <a:p>
            <a:endParaRPr lang="de-DE" sz="1200" dirty="0">
              <a:latin typeface="OCRB" panose="020B06090202020202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1670130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9407B-6377-E0B6-96ED-F29DEA926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C0E5A11-3433-869E-65F6-18AF5EB31387}"/>
              </a:ext>
            </a:extLst>
          </p:cNvPr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200" b="1" dirty="0">
                <a:solidFill>
                  <a:srgbClr val="002049"/>
                </a:solidFill>
                <a:latin typeface="Arial" pitchFamily="34" charset="0"/>
                <a:cs typeface="Arial" pitchFamily="34" charset="-120"/>
              </a:rPr>
              <a:t>Zusammenspiel mit bestehenden Tools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D7E236-E046-17D2-2CAB-148C38E6F5EE}"/>
              </a:ext>
            </a:extLst>
          </p:cNvPr>
          <p:cNvSpPr/>
          <p:nvPr/>
        </p:nvSpPr>
        <p:spPr>
          <a:xfrm>
            <a:off x="731520" y="1097280"/>
            <a:ext cx="7772400" cy="36554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de-DE" sz="1200" dirty="0">
                <a:latin typeface="OCRB" panose="020B0609020202020204" pitchFamily="49" charset="77"/>
              </a:rPr>
              <a:t>| Aufgabe | Tool |</a:t>
            </a:r>
          </a:p>
          <a:p>
            <a:r>
              <a:rPr lang="de-DE" sz="1200" dirty="0">
                <a:latin typeface="OCRB" panose="020B0609020202020204" pitchFamily="49" charset="77"/>
              </a:rPr>
              <a:t>|---------|------|</a:t>
            </a:r>
          </a:p>
          <a:p>
            <a:r>
              <a:rPr lang="de-DE" sz="1200" dirty="0">
                <a:latin typeface="OCRB" panose="020B0609020202020204" pitchFamily="49" charset="77"/>
              </a:rPr>
              <a:t>| Token-</a:t>
            </a:r>
            <a:r>
              <a:rPr lang="de-DE" sz="1200" dirty="0" err="1">
                <a:latin typeface="OCRB" panose="020B0609020202020204" pitchFamily="49" charset="77"/>
              </a:rPr>
              <a:t>Sync</a:t>
            </a:r>
            <a:r>
              <a:rPr lang="de-DE" sz="1200" dirty="0">
                <a:latin typeface="OCRB" panose="020B0609020202020204" pitchFamily="49" charset="77"/>
              </a:rPr>
              <a:t> (Farben, </a:t>
            </a:r>
            <a:r>
              <a:rPr lang="de-DE" sz="1200" dirty="0" err="1">
                <a:latin typeface="OCRB" panose="020B0609020202020204" pitchFamily="49" charset="77"/>
              </a:rPr>
              <a:t>Spacing</a:t>
            </a:r>
            <a:r>
              <a:rPr lang="de-DE" sz="1200" dirty="0">
                <a:latin typeface="OCRB" panose="020B0609020202020204" pitchFamily="49" charset="77"/>
              </a:rPr>
              <a:t>) | `</a:t>
            </a:r>
            <a:r>
              <a:rPr lang="de-DE" sz="1200" dirty="0" err="1">
                <a:latin typeface="OCRB" panose="020B0609020202020204" pitchFamily="49" charset="77"/>
              </a:rPr>
              <a:t>npm</a:t>
            </a:r>
            <a:r>
              <a:rPr lang="de-DE" sz="1200" dirty="0">
                <a:latin typeface="OCRB" panose="020B0609020202020204" pitchFamily="49" charset="77"/>
              </a:rPr>
              <a:t> </a:t>
            </a:r>
            <a:r>
              <a:rPr lang="de-DE" sz="1200" dirty="0" err="1">
                <a:latin typeface="OCRB" panose="020B0609020202020204" pitchFamily="49" charset="77"/>
              </a:rPr>
              <a:t>run</a:t>
            </a:r>
            <a:r>
              <a:rPr lang="de-DE" sz="1200" dirty="0">
                <a:latin typeface="OCRB" panose="020B0609020202020204" pitchFamily="49" charset="77"/>
              </a:rPr>
              <a:t> </a:t>
            </a:r>
            <a:r>
              <a:rPr lang="de-DE" sz="1200" dirty="0" err="1">
                <a:latin typeface="OCRB" panose="020B0609020202020204" pitchFamily="49" charset="77"/>
              </a:rPr>
              <a:t>figma:pull</a:t>
            </a:r>
            <a:r>
              <a:rPr lang="de-DE" sz="1200" dirty="0">
                <a:latin typeface="OCRB" panose="020B0609020202020204" pitchFamily="49" charset="77"/>
              </a:rPr>
              <a:t>` (</a:t>
            </a:r>
            <a:r>
              <a:rPr lang="de-DE" sz="1200" dirty="0" err="1">
                <a:latin typeface="OCRB" panose="020B0609020202020204" pitchFamily="49" charset="77"/>
              </a:rPr>
              <a:t>figma-sync.mjs</a:t>
            </a:r>
            <a:r>
              <a:rPr lang="de-DE" sz="1200" dirty="0">
                <a:latin typeface="OCRB" panose="020B0609020202020204" pitchFamily="49" charset="77"/>
              </a:rPr>
              <a:t>) |</a:t>
            </a:r>
          </a:p>
          <a:p>
            <a:r>
              <a:rPr lang="de-DE" sz="1200" dirty="0">
                <a:latin typeface="OCRB" panose="020B0609020202020204" pitchFamily="49" charset="77"/>
              </a:rPr>
              <a:t>| </a:t>
            </a:r>
            <a:r>
              <a:rPr lang="de-DE" sz="1200" dirty="0" err="1">
                <a:latin typeface="OCRB" panose="020B0609020202020204" pitchFamily="49" charset="77"/>
              </a:rPr>
              <a:t>Component</a:t>
            </a:r>
            <a:r>
              <a:rPr lang="de-DE" sz="1200" dirty="0">
                <a:latin typeface="OCRB" panose="020B0609020202020204" pitchFamily="49" charset="77"/>
              </a:rPr>
              <a:t>-Mapping | `</a:t>
            </a:r>
            <a:r>
              <a:rPr lang="de-DE" sz="1200" dirty="0" err="1">
                <a:latin typeface="OCRB" panose="020B0609020202020204" pitchFamily="49" charset="77"/>
              </a:rPr>
              <a:t>npm</a:t>
            </a:r>
            <a:r>
              <a:rPr lang="de-DE" sz="1200" dirty="0">
                <a:latin typeface="OCRB" panose="020B0609020202020204" pitchFamily="49" charset="77"/>
              </a:rPr>
              <a:t> </a:t>
            </a:r>
            <a:r>
              <a:rPr lang="de-DE" sz="1200" dirty="0" err="1">
                <a:latin typeface="OCRB" panose="020B0609020202020204" pitchFamily="49" charset="77"/>
              </a:rPr>
              <a:t>run</a:t>
            </a:r>
            <a:r>
              <a:rPr lang="de-DE" sz="1200" dirty="0">
                <a:latin typeface="OCRB" panose="020B0609020202020204" pitchFamily="49" charset="77"/>
              </a:rPr>
              <a:t> </a:t>
            </a:r>
            <a:r>
              <a:rPr lang="de-DE" sz="1200" dirty="0" err="1">
                <a:latin typeface="OCRB" panose="020B0609020202020204" pitchFamily="49" charset="77"/>
              </a:rPr>
              <a:t>figma:components</a:t>
            </a:r>
            <a:r>
              <a:rPr lang="de-DE" sz="1200" dirty="0">
                <a:latin typeface="OCRB" panose="020B0609020202020204" pitchFamily="49" charset="77"/>
              </a:rPr>
              <a:t>` (</a:t>
            </a:r>
            <a:r>
              <a:rPr lang="de-DE" sz="1200" dirty="0" err="1">
                <a:latin typeface="OCRB" panose="020B0609020202020204" pitchFamily="49" charset="77"/>
              </a:rPr>
              <a:t>figma-sync.mjs</a:t>
            </a:r>
            <a:r>
              <a:rPr lang="de-DE" sz="1200" dirty="0">
                <a:latin typeface="OCRB" panose="020B0609020202020204" pitchFamily="49" charset="77"/>
              </a:rPr>
              <a:t>) |</a:t>
            </a:r>
          </a:p>
          <a:p>
            <a:r>
              <a:rPr lang="de-DE" sz="1200" dirty="0">
                <a:latin typeface="OCRB" panose="020B0609020202020204" pitchFamily="49" charset="77"/>
              </a:rPr>
              <a:t>| Visueller Export nach </a:t>
            </a:r>
            <a:r>
              <a:rPr lang="de-DE" sz="1200" dirty="0" err="1">
                <a:latin typeface="OCRB" panose="020B0609020202020204" pitchFamily="49" charset="77"/>
              </a:rPr>
              <a:t>Figma</a:t>
            </a:r>
            <a:r>
              <a:rPr lang="de-DE" sz="1200" dirty="0">
                <a:latin typeface="OCRB" panose="020B0609020202020204" pitchFamily="49" charset="77"/>
              </a:rPr>
              <a:t> | </a:t>
            </a:r>
            <a:r>
              <a:rPr lang="de-DE" sz="1200" dirty="0" err="1">
                <a:latin typeface="OCRB" panose="020B0609020202020204" pitchFamily="49" charset="77"/>
              </a:rPr>
              <a:t>Figma</a:t>
            </a:r>
            <a:r>
              <a:rPr lang="de-DE" sz="1200" dirty="0">
                <a:latin typeface="OCRB" panose="020B0609020202020204" pitchFamily="49" charset="77"/>
              </a:rPr>
              <a:t> MCP (`</a:t>
            </a:r>
            <a:r>
              <a:rPr lang="de-DE" sz="1200" dirty="0" err="1">
                <a:latin typeface="OCRB" panose="020B0609020202020204" pitchFamily="49" charset="77"/>
              </a:rPr>
              <a:t>transfer</a:t>
            </a:r>
            <a:r>
              <a:rPr lang="de-DE" sz="1200" dirty="0">
                <a:latin typeface="OCRB" panose="020B0609020202020204" pitchFamily="49" charset="77"/>
              </a:rPr>
              <a:t> design`) |</a:t>
            </a:r>
          </a:p>
          <a:p>
            <a:r>
              <a:rPr lang="de-DE" sz="1200" dirty="0">
                <a:latin typeface="OCRB" panose="020B0609020202020204" pitchFamily="49" charset="77"/>
              </a:rPr>
              <a:t>| Design-Änderungen übernehmen | </a:t>
            </a:r>
            <a:r>
              <a:rPr lang="de-DE" sz="1200" dirty="0" err="1">
                <a:latin typeface="OCRB" panose="020B0609020202020204" pitchFamily="49" charset="77"/>
              </a:rPr>
              <a:t>Figma</a:t>
            </a:r>
            <a:r>
              <a:rPr lang="de-DE" sz="1200" dirty="0">
                <a:latin typeface="OCRB" panose="020B0609020202020204" pitchFamily="49" charset="77"/>
              </a:rPr>
              <a:t> MCP (`update style`) |</a:t>
            </a:r>
          </a:p>
          <a:p>
            <a:r>
              <a:rPr lang="de-DE" sz="1200" dirty="0">
                <a:latin typeface="OCRB" panose="020B0609020202020204" pitchFamily="49" charset="77"/>
              </a:rPr>
              <a:t>| Komponenten-Dokumentation | </a:t>
            </a:r>
            <a:r>
              <a:rPr lang="de-DE" sz="1200" dirty="0" err="1">
                <a:latin typeface="OCRB" panose="020B0609020202020204" pitchFamily="49" charset="77"/>
              </a:rPr>
              <a:t>Figma</a:t>
            </a:r>
            <a:r>
              <a:rPr lang="de-DE" sz="1200" dirty="0">
                <a:latin typeface="OCRB" panose="020B0609020202020204" pitchFamily="49" charset="77"/>
              </a:rPr>
              <a:t> MCP (`</a:t>
            </a:r>
            <a:r>
              <a:rPr lang="de-DE" sz="1200" dirty="0" err="1">
                <a:latin typeface="OCRB" panose="020B0609020202020204" pitchFamily="49" charset="77"/>
              </a:rPr>
              <a:t>document</a:t>
            </a:r>
            <a:r>
              <a:rPr lang="de-DE" sz="1200" dirty="0">
                <a:latin typeface="OCRB" panose="020B0609020202020204" pitchFamily="49" charset="77"/>
              </a:rPr>
              <a:t> </a:t>
            </a:r>
            <a:r>
              <a:rPr lang="de-DE" sz="1200" dirty="0" err="1">
                <a:latin typeface="OCRB" panose="020B0609020202020204" pitchFamily="49" charset="77"/>
              </a:rPr>
              <a:t>component</a:t>
            </a:r>
            <a:r>
              <a:rPr lang="de-DE" sz="1200" dirty="0">
                <a:latin typeface="OCRB" panose="020B0609020202020204" pitchFamily="49" charset="77"/>
              </a:rPr>
              <a:t>`) |</a:t>
            </a:r>
          </a:p>
          <a:p>
            <a:endParaRPr lang="de-DE" sz="1200" dirty="0">
              <a:latin typeface="OCRB" panose="020B06090202020202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741542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Vielen Dank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Skills · 4 Agents · 107 Stories · 97/100 Score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5943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 Design System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3033</Words>
  <Application>Microsoft Macintosh PowerPoint</Application>
  <PresentationFormat>Bildschirmpräsentation (16:9)</PresentationFormat>
  <Paragraphs>646</Paragraphs>
  <Slides>47</Slides>
  <Notes>47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47</vt:i4>
      </vt:variant>
    </vt:vector>
  </HeadingPairs>
  <TitlesOfParts>
    <vt:vector size="51" baseType="lpstr">
      <vt:lpstr>Arial</vt:lpstr>
      <vt:lpstr>Courier New</vt:lpstr>
      <vt:lpstr>OCRB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Dev Process Acceleration — Schulung Phase 1–6</dc:subject>
  <dc:creator>NEO Design System</dc:creator>
  <cp:lastModifiedBy>Frank Milius</cp:lastModifiedBy>
  <cp:revision>4</cp:revision>
  <dcterms:created xsi:type="dcterms:W3CDTF">2026-03-25T15:23:34Z</dcterms:created>
  <dcterms:modified xsi:type="dcterms:W3CDTF">2026-03-26T09:12:08Z</dcterms:modified>
</cp:coreProperties>
</file>